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36576" cy="4937760"/>
          </a:xfrm>
          <a:prstGeom prst="rect">
            <a:avLst/>
          </a:prstGeom>
          <a:solidFill>
            <a:srgbClr val="B91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5544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spc="300" kern="0" dirty="0">
                <a:solidFill>
                  <a:srgbClr val="1A1A1A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SQL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0" b="1" spc="300" kern="0" dirty="0">
                <a:solidFill>
                  <a:srgbClr val="1A1A1A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OF THE</a:t>
            </a:r>
            <a:endParaRPr lang="en-US" sz="8500" dirty="0"/>
          </a:p>
        </p:txBody>
      </p:sp>
      <p:sp>
        <p:nvSpPr>
          <p:cNvPr id="5" name="Text 3"/>
          <p:cNvSpPr/>
          <p:nvPr/>
        </p:nvSpPr>
        <p:spPr>
          <a:xfrm>
            <a:off x="1280160" y="41148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spc="300" kern="0" dirty="0">
                <a:solidFill>
                  <a:srgbClr val="1A1A1A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DAY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280160" y="5852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income by title and gender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653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1A1A1A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26 APR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6922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>
                    <a:alpha val="6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StrataScratch · #10077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8540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THE PROBLEM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76272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Find the average total compensation based on employee titles and gender. Total compensation is calculated by adding salary and bonus. Disregard employees without bonuses in your calculation.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compensation distribution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>
                    <a:alpha val="7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sf_employee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3383280" cy="2011680"/>
          </a:xfrm>
          <a:prstGeom prst="roundRect">
            <a:avLst>
              <a:gd name="adj" fmla="val 1818"/>
            </a:avLst>
          </a:prstGeom>
          <a:solidFill>
            <a:srgbClr val="F2E8D5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7183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Type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4919472"/>
            <a:ext cx="3200400" cy="0"/>
          </a:xfrm>
          <a:prstGeom prst="line">
            <a:avLst/>
          </a:prstGeom>
          <a:noFill/>
          <a:ln w="10160">
            <a:solidFill>
              <a:srgbClr val="C8B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9560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               BIGINT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5248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employee_title    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55412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sex               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5833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salary            BIGINT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4297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>
                    <a:alpha val="7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sf_bonus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4663440"/>
            <a:ext cx="3383280" cy="1280160"/>
          </a:xfrm>
          <a:prstGeom prst="roundRect">
            <a:avLst>
              <a:gd name="adj" fmla="val 2857"/>
            </a:avLst>
          </a:prstGeom>
          <a:solidFill>
            <a:srgbClr val="F2E8D5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47183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4919472"/>
            <a:ext cx="3200400" cy="0"/>
          </a:xfrm>
          <a:prstGeom prst="line">
            <a:avLst/>
          </a:prstGeom>
          <a:noFill/>
          <a:ln w="10160">
            <a:solidFill>
              <a:srgbClr val="C8B8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49560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worker_ref_id     BIGINT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57800" y="5248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bonus             BIGINT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60520" y="5303520"/>
            <a:ext cx="822960" cy="0"/>
          </a:xfrm>
          <a:prstGeom prst="line">
            <a:avLst/>
          </a:prstGeom>
          <a:noFill/>
          <a:ln w="17780">
            <a:solidFill>
              <a:srgbClr val="B91646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4160520" y="50657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8540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THE SOLUTION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7680960" cy="5669280"/>
          </a:xfrm>
          <a:prstGeom prst="roundRect">
            <a:avLst>
              <a:gd name="adj" fmla="val 968"/>
            </a:avLst>
          </a:prstGeom>
          <a:solidFill>
            <a:srgbClr val="F2E8D5"/>
          </a:solidFill>
          <a:ln w="15240">
            <a:solidFill>
              <a:srgbClr val="C8B8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3591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cte_total_bonus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724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SELECT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090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worker_ref_id,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4564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1A5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(bonus)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total_bonus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822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sf_bonus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187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worker_ref_id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553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919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5285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e.employee_title,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5650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e.sex,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6016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1A5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(e.salary + b.total_bonus)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avg_comp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sf_employee 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6748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INNER JOIN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cte_total_bonus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7114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e.id = b.worker_ref_id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74797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1, 2;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8540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HOW IT WORKS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PRE-AGGREGATE BONUSES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7004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Calculate the total bonus for each individual employee using a CTE before joining, ensuring accurate additive totals.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694176"/>
            <a:ext cx="7680960" cy="0"/>
          </a:xfrm>
          <a:prstGeom prst="line">
            <a:avLst/>
          </a:prstGeom>
          <a:noFill/>
          <a:ln w="8890">
            <a:solidFill>
              <a:srgbClr val="C8B89A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INNER JOIN FILTERING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13308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Connecting the tables with an INNER JOIN automatically filters out any employees who did not receive a bonus.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157216"/>
            <a:ext cx="7680960" cy="0"/>
          </a:xfrm>
          <a:prstGeom prst="line">
            <a:avLst/>
          </a:prstGeom>
          <a:noFill/>
          <a:ln w="8890">
            <a:solidFill>
              <a:srgbClr val="C8B89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0352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CALCULATE AVERAGES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559612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By grouping by title and gender, AVG computes the combined regular salary plus total allocated bonus amount.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8540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THIS PATTERN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12140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1A1A1A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TELLS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1646">
                    <a:alpha val="55000"/>
                  </a:srgbClr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30175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compensation figures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89888" y="329184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Provides a structured look at the base average compensation split across specific roles and gender, establishing an initial high-level viewpoint.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352544"/>
            <a:ext cx="7680960" cy="0"/>
          </a:xfrm>
          <a:prstGeom prst="line">
            <a:avLst/>
          </a:prstGeom>
          <a:noFill/>
          <a:ln w="8890">
            <a:solidFill>
              <a:srgbClr val="C8B89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537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1646">
                    <a:alpha val="55000"/>
                  </a:srgbClr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89888" y="4553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value of headcount metadata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4828032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Coupling averages with min, max, and total headcount metrics provides needed statistical gravity to make the data truly actionable.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888736"/>
            <a:ext cx="7680960" cy="0"/>
          </a:xfrm>
          <a:prstGeom prst="line">
            <a:avLst/>
          </a:prstGeom>
          <a:noFill/>
          <a:ln w="8890">
            <a:solidFill>
              <a:srgbClr val="C8B89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0899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1646">
                    <a:alpha val="55000"/>
                  </a:srgbClr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89888" y="6089904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Expanding to quartiles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636422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Querying the full distribution across percentiles (using percentile_cont in SQL) often yields a better read on internal equity than a flat average.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8540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200" kern="0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KEY TAKEAWAYS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35915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44752" y="235915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Averages inherently compress and obscure context. Always measure the full distribution to discover outliers that might drastically pull the mean.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359359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44752" y="359359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Using native quartile functions gives you a far clearer view of actual compensation tiers, cutting through the noise of edge cases.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482803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91646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44752" y="482803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Pay close attention to business rules, like explicitly excluding employees without bonuses, as they drastically shape how your initial SQL boundaries must be defined.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73792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follow for daily SQL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77358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>
                    <a:alpha val="4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#SQLoftheDay  #SQL  #StrataScratch  #DataAnalytics  #PostgreSQL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8394192"/>
            <a:ext cx="76809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18704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393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851306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BF3E4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8513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2026-03-14T16:41:00Z</dcterms:created>
  <dcterms:modified xsi:type="dcterms:W3CDTF">2026-03-14T16:41:00Z</dcterms:modified>
</cp:coreProperties>
</file>