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E"/>
        </a:solidFill>
        <a:effectLst/>
      </p:bgPr>
    </p:bg>
    <p:spTree>
      <p:nvGrpSpPr>
        <p:cNvPr id="1" name=""/>
        <p:cNvGrpSpPr/>
        <p:nvPr/>
      </p:nvGrpSpPr>
      <p:grpSpPr/>
      <p:sp>
        <p:nvSpPr>
          <p:cNvPr id="2" name="TextBox 1"/>
          <p:cNvSpPr txBox="1"/>
          <p:nvPr/>
        </p:nvSpPr>
        <p:spPr>
          <a:xfrm>
            <a:off x="11073384" y="320040"/>
            <a:ext cx="548640" cy="365760"/>
          </a:xfrm>
          <a:prstGeom prst="rect">
            <a:avLst/>
          </a:prstGeom>
          <a:noFill/>
        </p:spPr>
        <p:txBody>
          <a:bodyPr wrap="square">
            <a:spAutoFit/>
          </a:bodyPr>
          <a:lstStyle/>
          <a:p>
            <a:pPr algn="r"/>
            <a:r>
              <a:rPr sz="1600" b="0" i="0">
                <a:solidFill>
                  <a:srgbClr val="1A1A1A"/>
                </a:solidFill>
                <a:latin typeface="Arial"/>
              </a:rPr>
              <a:t>• • •</a:t>
            </a:r>
          </a:p>
        </p:txBody>
      </p:sp>
      <p:sp>
        <p:nvSpPr>
          <p:cNvPr id="3" name="TextBox 2"/>
          <p:cNvSpPr txBox="1"/>
          <p:nvPr/>
        </p:nvSpPr>
        <p:spPr>
          <a:xfrm>
            <a:off x="658368" y="1005840"/>
            <a:ext cx="10872216" cy="2743200"/>
          </a:xfrm>
          <a:prstGeom prst="rect">
            <a:avLst/>
          </a:prstGeom>
          <a:noFill/>
        </p:spPr>
        <p:txBody>
          <a:bodyPr wrap="square">
            <a:spAutoFit/>
          </a:bodyPr>
          <a:lstStyle/>
          <a:p>
            <a:pPr algn="ctr"/>
            <a:r>
              <a:rPr sz="13000" b="0" i="0">
                <a:solidFill>
                  <a:srgbClr val="1A1A1A"/>
                </a:solidFill>
                <a:latin typeface="Impact"/>
              </a:rPr>
              <a:t>SQL OF THE DAY</a:t>
            </a:r>
          </a:p>
        </p:txBody>
      </p:sp>
      <p:sp>
        <p:nvSpPr>
          <p:cNvPr id="4" name="TextBox 3"/>
          <p:cNvSpPr txBox="1"/>
          <p:nvPr/>
        </p:nvSpPr>
        <p:spPr>
          <a:xfrm>
            <a:off x="658368" y="3794760"/>
            <a:ext cx="10872216" cy="594360"/>
          </a:xfrm>
          <a:prstGeom prst="rect">
            <a:avLst/>
          </a:prstGeom>
          <a:noFill/>
        </p:spPr>
        <p:txBody>
          <a:bodyPr wrap="square">
            <a:spAutoFit/>
          </a:bodyPr>
          <a:lstStyle/>
          <a:p>
            <a:pPr algn="ctr"/>
            <a:r>
              <a:rPr sz="2600" b="0" i="0">
                <a:solidFill>
                  <a:srgbClr val="C41453"/>
                </a:solidFill>
                <a:latin typeface="Impact"/>
              </a:rPr>
              <a:t>💻  Number of Units per Nationality</a:t>
            </a:r>
          </a:p>
        </p:txBody>
      </p:sp>
      <p:sp>
        <p:nvSpPr>
          <p:cNvPr id="5" name="TextBox 4"/>
          <p:cNvSpPr txBox="1"/>
          <p:nvPr/>
        </p:nvSpPr>
        <p:spPr>
          <a:xfrm>
            <a:off x="658368" y="4434840"/>
            <a:ext cx="10872216" cy="365760"/>
          </a:xfrm>
          <a:prstGeom prst="rect">
            <a:avLst/>
          </a:prstGeom>
          <a:noFill/>
        </p:spPr>
        <p:txBody>
          <a:bodyPr wrap="square">
            <a:spAutoFit/>
          </a:bodyPr>
          <a:lstStyle/>
          <a:p>
            <a:pPr algn="ctr"/>
            <a:r>
              <a:rPr sz="1500" b="0" i="0">
                <a:solidFill>
                  <a:srgbClr val="1A1A1A"/>
                </a:solidFill>
                <a:latin typeface="Arial"/>
              </a:rPr>
              <a:t>16 Mar 2026</a:t>
            </a:r>
          </a:p>
        </p:txBody>
      </p:sp>
      <p:sp>
        <p:nvSpPr>
          <p:cNvPr id="6" name="Rectangle 5"/>
          <p:cNvSpPr/>
          <p:nvPr/>
        </p:nvSpPr>
        <p:spPr>
          <a:xfrm>
            <a:off x="4905756" y="4983480"/>
            <a:ext cx="2377440" cy="347472"/>
          </a:xfrm>
          <a:prstGeom prst="rect">
            <a:avLst/>
          </a:prstGeom>
          <a:solidFill>
            <a:srgbClr val="FAF6EE"/>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05756" y="5034280"/>
            <a:ext cx="2377440" cy="347472"/>
          </a:xfrm>
          <a:prstGeom prst="rect">
            <a:avLst/>
          </a:prstGeom>
          <a:noFill/>
        </p:spPr>
        <p:txBody>
          <a:bodyPr wrap="square">
            <a:spAutoFit/>
          </a:bodyPr>
          <a:lstStyle/>
          <a:p>
            <a:pPr algn="ctr"/>
            <a:r>
              <a:rPr sz="1100" b="0" i="0">
                <a:solidFill>
                  <a:srgbClr val="1A1A1A"/>
                </a:solidFill>
                <a:latin typeface="Arial"/>
              </a:rPr>
              <a:t>NIVAN R. SUGIANTORO</a:t>
            </a:r>
          </a:p>
        </p:txBody>
      </p:sp>
      <p:sp>
        <p:nvSpPr>
          <p:cNvPr id="8" name="Rectangle 7"/>
          <p:cNvSpPr/>
          <p:nvPr/>
        </p:nvSpPr>
        <p:spPr>
          <a:xfrm>
            <a:off x="10799064" y="6510528"/>
            <a:ext cx="731520" cy="127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E"/>
        </a:solidFill>
        <a:effectLst/>
      </p:bgPr>
    </p:bg>
    <p:spTree>
      <p:nvGrpSpPr>
        <p:cNvPr id="1" name=""/>
        <p:cNvGrpSpPr/>
        <p:nvPr/>
      </p:nvGrpSpPr>
      <p:grpSpPr/>
      <p:sp>
        <p:nvSpPr>
          <p:cNvPr id="2" name="TextBox 1"/>
          <p:cNvSpPr txBox="1"/>
          <p:nvPr/>
        </p:nvSpPr>
        <p:spPr>
          <a:xfrm>
            <a:off x="658368" y="502920"/>
            <a:ext cx="10872216" cy="1005840"/>
          </a:xfrm>
          <a:prstGeom prst="rect">
            <a:avLst/>
          </a:prstGeom>
          <a:noFill/>
        </p:spPr>
        <p:txBody>
          <a:bodyPr wrap="square">
            <a:spAutoFit/>
          </a:bodyPr>
          <a:lstStyle/>
          <a:p>
            <a:pPr algn="l"/>
            <a:r>
              <a:rPr sz="6400" b="0" i="0">
                <a:solidFill>
                  <a:srgbClr val="C41453"/>
                </a:solidFill>
                <a:latin typeface="Impact"/>
              </a:rPr>
              <a:t>PROBLEMS</a:t>
            </a:r>
          </a:p>
        </p:txBody>
      </p:sp>
      <p:sp>
        <p:nvSpPr>
          <p:cNvPr id="3" name="TextBox 2"/>
          <p:cNvSpPr txBox="1"/>
          <p:nvPr/>
        </p:nvSpPr>
        <p:spPr>
          <a:xfrm>
            <a:off x="658368" y="1417320"/>
            <a:ext cx="10872216" cy="320040"/>
          </a:xfrm>
          <a:prstGeom prst="rect">
            <a:avLst/>
          </a:prstGeom>
          <a:noFill/>
        </p:spPr>
        <p:txBody>
          <a:bodyPr wrap="square">
            <a:spAutoFit/>
          </a:bodyPr>
          <a:lstStyle/>
          <a:p>
            <a:pPr algn="l"/>
            <a:r>
              <a:rPr sz="1300" b="0" i="0">
                <a:solidFill>
                  <a:srgbClr val="C41453"/>
                </a:solidFill>
                <a:latin typeface="Arial"/>
              </a:rPr>
              <a:t>🔗  stratascratch.com/coding/10156-number-of-units-per-nationality</a:t>
            </a:r>
          </a:p>
        </p:txBody>
      </p:sp>
      <p:sp>
        <p:nvSpPr>
          <p:cNvPr id="4" name="TextBox 3"/>
          <p:cNvSpPr txBox="1"/>
          <p:nvPr/>
        </p:nvSpPr>
        <p:spPr>
          <a:xfrm>
            <a:off x="658368" y="1920240"/>
            <a:ext cx="10872216" cy="3657600"/>
          </a:xfrm>
          <a:prstGeom prst="rect">
            <a:avLst/>
          </a:prstGeom>
          <a:noFill/>
        </p:spPr>
        <p:txBody>
          <a:bodyPr wrap="square">
            <a:spAutoFit/>
          </a:bodyPr>
          <a:lstStyle/>
          <a:p>
            <a:pPr algn="l"/>
            <a:r>
              <a:rPr sz="2000" b="0" i="0">
                <a:solidFill>
                  <a:srgbClr val="1A1A1A"/>
                </a:solidFill>
                <a:latin typeface="Arial"/>
              </a:rPr>
              <a:t>Find the number of apartments per nationality that are owned by people under 30 years old.
Output the nationality along with the number of apartments, sorted by apartment count in ascending order.</a:t>
            </a:r>
          </a:p>
        </p:txBody>
      </p:sp>
      <p:sp>
        <p:nvSpPr>
          <p:cNvPr id="5" name="Rectangle 4"/>
          <p:cNvSpPr/>
          <p:nvPr/>
        </p:nvSpPr>
        <p:spPr>
          <a:xfrm>
            <a:off x="10799064" y="6510528"/>
            <a:ext cx="731520" cy="127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E"/>
        </a:solidFill>
        <a:effectLst/>
      </p:bgPr>
    </p:bg>
    <p:spTree>
      <p:nvGrpSpPr>
        <p:cNvPr id="1" name=""/>
        <p:cNvGrpSpPr/>
        <p:nvPr/>
      </p:nvGrpSpPr>
      <p:grpSpPr/>
      <p:sp>
        <p:nvSpPr>
          <p:cNvPr id="2" name="TextBox 1"/>
          <p:cNvSpPr txBox="1"/>
          <p:nvPr/>
        </p:nvSpPr>
        <p:spPr>
          <a:xfrm>
            <a:off x="658368" y="411480"/>
            <a:ext cx="5253228" cy="914400"/>
          </a:xfrm>
          <a:prstGeom prst="rect">
            <a:avLst/>
          </a:prstGeom>
          <a:noFill/>
        </p:spPr>
        <p:txBody>
          <a:bodyPr wrap="square">
            <a:spAutoFit/>
          </a:bodyPr>
          <a:lstStyle/>
          <a:p>
            <a:pPr algn="l"/>
            <a:r>
              <a:rPr sz="6400" b="0" i="0">
                <a:solidFill>
                  <a:srgbClr val="C41453"/>
                </a:solidFill>
                <a:latin typeface="Impact"/>
              </a:rPr>
              <a:t>SOLUTION</a:t>
            </a:r>
          </a:p>
        </p:txBody>
      </p:sp>
      <p:sp>
        <p:nvSpPr>
          <p:cNvPr id="3" name="TextBox 2"/>
          <p:cNvSpPr txBox="1"/>
          <p:nvPr/>
        </p:nvSpPr>
        <p:spPr>
          <a:xfrm>
            <a:off x="658368" y="1417320"/>
            <a:ext cx="5070348" cy="5029200"/>
          </a:xfrm>
          <a:prstGeom prst="rect">
            <a:avLst/>
          </a:prstGeom>
          <a:noFill/>
        </p:spPr>
        <p:txBody>
          <a:bodyPr wrap="square">
            <a:spAutoFit/>
          </a:bodyPr>
          <a:lstStyle/>
          <a:p>
            <a:pPr algn="l">
              <a:spcBef>
                <a:spcPts val="200"/>
              </a:spcBef>
            </a:pPr>
            <a:r>
              <a:rPr sz="1600" b="0" i="0">
                <a:solidFill>
                  <a:srgbClr val="C41453"/>
                </a:solidFill>
                <a:latin typeface="Impact"/>
              </a:rPr>
              <a:t>🧩 Logic breakdown</a:t>
            </a:r>
          </a:p>
          <a:p>
            <a:pPr algn="l">
              <a:spcBef>
                <a:spcPts val="200"/>
              </a:spcBef>
            </a:pPr>
            <a:r>
              <a:rPr sz="1500" b="1" i="0">
                <a:solidFill>
                  <a:srgbClr val="1A1A1A"/>
                </a:solidFill>
                <a:latin typeface="Arial"/>
              </a:rPr>
              <a:t>- Join the tables:</a:t>
            </a:r>
          </a:p>
          <a:p>
            <a:pPr algn="l">
              <a:spcBef>
                <a:spcPts val="200"/>
              </a:spcBef>
            </a:pPr>
            <a:r>
              <a:rPr sz="1400" b="0" i="0">
                <a:solidFill>
                  <a:srgbClr val="1A1A1A"/>
                </a:solidFill>
                <a:latin typeface="Arial"/>
              </a:rPr>
              <a:t>Combine airbnb_hosts and airbnb_units on host_id using INNER JOIN.</a:t>
            </a:r>
          </a:p>
          <a:p>
            <a:pPr algn="l">
              <a:spcBef>
                <a:spcPts val="200"/>
              </a:spcBef>
            </a:pPr>
            <a:r>
              <a:rPr sz="1500" b="1" i="0">
                <a:solidFill>
                  <a:srgbClr val="1A1A1A"/>
                </a:solidFill>
                <a:latin typeface="Arial"/>
              </a:rPr>
              <a:t>- Apply filters:</a:t>
            </a:r>
          </a:p>
          <a:p>
            <a:pPr algn="l">
              <a:spcBef>
                <a:spcPts val="200"/>
              </a:spcBef>
            </a:pPr>
            <a:r>
              <a:rPr sz="1400" b="0" i="0">
                <a:solidFill>
                  <a:srgbClr val="1A1A1A"/>
                </a:solidFill>
                <a:latin typeface="Arial"/>
              </a:rPr>
              <a:t>WHERE age &lt; 30 AND unit_type = 'Apartment'.</a:t>
            </a:r>
          </a:p>
          <a:p>
            <a:pPr algn="l">
              <a:spcBef>
                <a:spcPts val="200"/>
              </a:spcBef>
            </a:pPr>
            <a:r>
              <a:rPr sz="1500" b="1" i="0">
                <a:solidFill>
                  <a:srgbClr val="1A1A1A"/>
                </a:solidFill>
                <a:latin typeface="Arial"/>
              </a:rPr>
              <a:t>- Group and count:</a:t>
            </a:r>
          </a:p>
          <a:p>
            <a:pPr algn="l">
              <a:spcBef>
                <a:spcPts val="200"/>
              </a:spcBef>
            </a:pPr>
            <a:r>
              <a:rPr sz="1400" b="0" i="0">
                <a:solidFill>
                  <a:srgbClr val="1A1A1A"/>
                </a:solidFill>
                <a:latin typeface="Arial"/>
              </a:rPr>
              <a:t>GROUP BY nationality, COUNT(DISTINCT unit_id) to avoid duplicates.</a:t>
            </a:r>
          </a:p>
          <a:p>
            <a:pPr algn="l">
              <a:spcBef>
                <a:spcPts val="200"/>
              </a:spcBef>
            </a:pPr>
            <a:r>
              <a:rPr sz="1500" b="1" i="0">
                <a:solidFill>
                  <a:srgbClr val="1A1A1A"/>
                </a:solidFill>
                <a:latin typeface="Arial"/>
              </a:rPr>
              <a:t>- Sort:</a:t>
            </a:r>
          </a:p>
          <a:p>
            <a:pPr algn="l">
              <a:spcBef>
                <a:spcPts val="200"/>
              </a:spcBef>
            </a:pPr>
            <a:r>
              <a:rPr sz="1400" b="0" i="0">
                <a:solidFill>
                  <a:srgbClr val="1A1A1A"/>
                </a:solidFill>
                <a:latin typeface="Arial"/>
              </a:rPr>
              <a:t>ORDER BY apartment count ascending.</a:t>
            </a:r>
          </a:p>
        </p:txBody>
      </p:sp>
      <p:sp>
        <p:nvSpPr>
          <p:cNvPr id="4" name="Rectangle 3"/>
          <p:cNvSpPr/>
          <p:nvPr/>
        </p:nvSpPr>
        <p:spPr>
          <a:xfrm>
            <a:off x="6003036" y="548640"/>
            <a:ext cx="5527548" cy="58521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1636" y="822960"/>
            <a:ext cx="5070348" cy="5303520"/>
          </a:xfrm>
          <a:prstGeom prst="rect">
            <a:avLst/>
          </a:prstGeom>
          <a:noFill/>
        </p:spPr>
        <p:txBody>
          <a:bodyPr wrap="square">
            <a:spAutoFit/>
          </a:bodyPr>
          <a:lstStyle/>
          <a:p>
            <a:pPr algn="l"/>
            <a:r>
              <a:rPr sz="1600" b="0" i="0">
                <a:solidFill>
                  <a:srgbClr val="E8E8E8"/>
                </a:solidFill>
                <a:latin typeface="Consolas"/>
              </a:rPr>
              <a:t>SELECT
    a.nationality,
    COUNT(DISTINCT b.unit_id)
        AS apartment_count
FROM airbnb_hosts a
INNER JOIN airbnb_units b
    ON a.host_id = b.host_id
WHERE a.age &lt; 30
    AND b.unit_type = 'Apartment'
GROUP BY a.nationality
ORDER BY 2;</a:t>
            </a:r>
          </a:p>
        </p:txBody>
      </p:sp>
      <p:sp>
        <p:nvSpPr>
          <p:cNvPr id="6" name="Rectangle 5"/>
          <p:cNvSpPr/>
          <p:nvPr/>
        </p:nvSpPr>
        <p:spPr>
          <a:xfrm>
            <a:off x="10799064" y="6510528"/>
            <a:ext cx="731520" cy="127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E"/>
        </a:solidFill>
        <a:effectLst/>
      </p:bgPr>
    </p:bg>
    <p:spTree>
      <p:nvGrpSpPr>
        <p:cNvPr id="1" name=""/>
        <p:cNvGrpSpPr/>
        <p:nvPr/>
      </p:nvGrpSpPr>
      <p:grpSpPr/>
      <p:sp>
        <p:nvSpPr>
          <p:cNvPr id="2" name="TextBox 1"/>
          <p:cNvSpPr txBox="1"/>
          <p:nvPr/>
        </p:nvSpPr>
        <p:spPr>
          <a:xfrm>
            <a:off x="658368" y="320040"/>
            <a:ext cx="10872216" cy="777240"/>
          </a:xfrm>
          <a:prstGeom prst="rect">
            <a:avLst/>
          </a:prstGeom>
          <a:noFill/>
        </p:spPr>
        <p:txBody>
          <a:bodyPr wrap="square">
            <a:spAutoFit/>
          </a:bodyPr>
          <a:lstStyle/>
          <a:p>
            <a:pPr algn="l"/>
            <a:r>
              <a:rPr sz="4600" b="0" i="0">
                <a:solidFill>
                  <a:srgbClr val="C41453"/>
                </a:solidFill>
                <a:latin typeface="Impact"/>
              </a:rPr>
              <a:t>THIS PATTERN TELLS YOU:</a:t>
            </a:r>
          </a:p>
        </p:txBody>
      </p:sp>
      <p:sp>
        <p:nvSpPr>
          <p:cNvPr id="3" name="TextBox 2"/>
          <p:cNvSpPr txBox="1"/>
          <p:nvPr/>
        </p:nvSpPr>
        <p:spPr>
          <a:xfrm>
            <a:off x="658368" y="1143000"/>
            <a:ext cx="10872216" cy="2103120"/>
          </a:xfrm>
          <a:prstGeom prst="rect">
            <a:avLst/>
          </a:prstGeom>
          <a:noFill/>
        </p:spPr>
        <p:txBody>
          <a:bodyPr wrap="square">
            <a:spAutoFit/>
          </a:bodyPr>
          <a:lstStyle/>
          <a:p>
            <a:pPr algn="l">
              <a:spcBef>
                <a:spcPts val="400"/>
              </a:spcBef>
            </a:pPr>
            <a:r>
              <a:rPr sz="1700" b="0" i="0">
                <a:solidFill>
                  <a:srgbClr val="1A1A1A"/>
                </a:solidFill>
                <a:latin typeface="Arial"/>
              </a:rPr>
              <a:t>- Who your supply comes from: Which demographics are most active as hosts reveals where supply is concentrated.</a:t>
            </a:r>
          </a:p>
          <a:p>
            <a:pPr algn="l">
              <a:spcBef>
                <a:spcPts val="400"/>
              </a:spcBef>
            </a:pPr>
            <a:r>
              <a:rPr sz="1700" b="0" i="0">
                <a:solidFill>
                  <a:srgbClr val="1A1A1A"/>
                </a:solidFill>
                <a:latin typeface="Arial"/>
              </a:rPr>
              <a:t>- Segmentation is powerful: Categorizing hosts by nationality lets you tailor outreach and support.</a:t>
            </a:r>
          </a:p>
          <a:p>
            <a:pPr algn="l">
              <a:spcBef>
                <a:spcPts val="400"/>
              </a:spcBef>
            </a:pPr>
            <a:r>
              <a:rPr sz="1700" b="0" i="0">
                <a:solidFill>
                  <a:srgbClr val="1A1A1A"/>
                </a:solidFill>
                <a:latin typeface="Arial"/>
              </a:rPr>
              <a:t>- Joins are the backbone of reporting: Almost every real business question combines data from multiple tables.</a:t>
            </a:r>
          </a:p>
        </p:txBody>
      </p:sp>
      <p:sp>
        <p:nvSpPr>
          <p:cNvPr id="4" name="TextBox 3"/>
          <p:cNvSpPr txBox="1"/>
          <p:nvPr/>
        </p:nvSpPr>
        <p:spPr>
          <a:xfrm>
            <a:off x="658368" y="3291840"/>
            <a:ext cx="10872216" cy="777240"/>
          </a:xfrm>
          <a:prstGeom prst="rect">
            <a:avLst/>
          </a:prstGeom>
          <a:noFill/>
        </p:spPr>
        <p:txBody>
          <a:bodyPr wrap="square">
            <a:spAutoFit/>
          </a:bodyPr>
          <a:lstStyle/>
          <a:p>
            <a:pPr algn="l"/>
            <a:r>
              <a:rPr sz="4600" b="0" i="0">
                <a:solidFill>
                  <a:srgbClr val="C41453"/>
                </a:solidFill>
                <a:latin typeface="Impact"/>
              </a:rPr>
              <a:t>KEY TAKEAWAYS</a:t>
            </a:r>
          </a:p>
        </p:txBody>
      </p:sp>
      <p:sp>
        <p:nvSpPr>
          <p:cNvPr id="5" name="TextBox 4"/>
          <p:cNvSpPr txBox="1"/>
          <p:nvPr/>
        </p:nvSpPr>
        <p:spPr>
          <a:xfrm>
            <a:off x="658368" y="4114800"/>
            <a:ext cx="10872216" cy="2377440"/>
          </a:xfrm>
          <a:prstGeom prst="rect">
            <a:avLst/>
          </a:prstGeom>
          <a:noFill/>
        </p:spPr>
        <p:txBody>
          <a:bodyPr wrap="square">
            <a:spAutoFit/>
          </a:bodyPr>
          <a:lstStyle/>
          <a:p>
            <a:pPr algn="l">
              <a:spcBef>
                <a:spcPts val="400"/>
              </a:spcBef>
            </a:pPr>
            <a:r>
              <a:rPr sz="1700" b="0" i="0">
                <a:solidFill>
                  <a:srgbClr val="1A1A1A"/>
                </a:solidFill>
                <a:latin typeface="Arial"/>
              </a:rPr>
              <a:t>- Use INNER JOIN when you only want rows with a match on both sides. Use LEFT JOIN to preserve all left-table rows.</a:t>
            </a:r>
          </a:p>
          <a:p>
            <a:pPr algn="l">
              <a:spcBef>
                <a:spcPts val="400"/>
              </a:spcBef>
            </a:pPr>
            <a:r>
              <a:rPr sz="1700" b="0" i="0">
                <a:solidFill>
                  <a:srgbClr val="1A1A1A"/>
                </a:solidFill>
                <a:latin typeface="Arial"/>
              </a:rPr>
              <a:t>- COUNT(DISTINCT ...) guards against inflated counts in one-to-many relationships.</a:t>
            </a:r>
          </a:p>
          <a:p>
            <a:pPr algn="l">
              <a:spcBef>
                <a:spcPts val="400"/>
              </a:spcBef>
            </a:pPr>
            <a:r>
              <a:rPr sz="1700" b="0" i="0">
                <a:solidFill>
                  <a:srgbClr val="1A1A1A"/>
                </a:solidFill>
                <a:latin typeface="Arial"/>
              </a:rPr>
              <a:t>- Knowing which join type to reach for (INNER, LEFT, RIGHT, FULL, CROSS) shapes the entire result set.</a:t>
            </a:r>
          </a:p>
        </p:txBody>
      </p:sp>
      <p:sp>
        <p:nvSpPr>
          <p:cNvPr id="6" name="Rectangle 5"/>
          <p:cNvSpPr/>
          <p:nvPr/>
        </p:nvSpPr>
        <p:spPr>
          <a:xfrm>
            <a:off x="10799064" y="6510528"/>
            <a:ext cx="731520" cy="127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E"/>
        </a:solidFill>
        <a:effectLst/>
      </p:bgPr>
    </p:bg>
    <p:spTree>
      <p:nvGrpSpPr>
        <p:cNvPr id="1" name=""/>
        <p:cNvGrpSpPr/>
        <p:nvPr/>
      </p:nvGrpSpPr>
      <p:grpSpPr/>
      <p:sp>
        <p:nvSpPr>
          <p:cNvPr id="2" name="Rectangle 1"/>
          <p:cNvSpPr/>
          <p:nvPr/>
        </p:nvSpPr>
        <p:spPr>
          <a:xfrm>
            <a:off x="658368" y="822960"/>
            <a:ext cx="10872216" cy="127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645920"/>
            <a:ext cx="10872216" cy="2926080"/>
          </a:xfrm>
          <a:prstGeom prst="rect">
            <a:avLst/>
          </a:prstGeom>
          <a:noFill/>
        </p:spPr>
        <p:txBody>
          <a:bodyPr wrap="square">
            <a:spAutoFit/>
          </a:bodyPr>
          <a:lstStyle/>
          <a:p>
            <a:pPr algn="ctr"/>
            <a:r>
              <a:rPr sz="9600" b="0" i="0">
                <a:solidFill>
                  <a:srgbClr val="C41453"/>
                </a:solidFill>
                <a:latin typeface="Vladimir Script"/>
              </a:rPr>
              <a:t>let's Connect</a:t>
            </a:r>
          </a:p>
        </p:txBody>
      </p:sp>
      <p:sp>
        <p:nvSpPr>
          <p:cNvPr id="4" name="TextBox 3"/>
          <p:cNvSpPr txBox="1"/>
          <p:nvPr/>
        </p:nvSpPr>
        <p:spPr>
          <a:xfrm>
            <a:off x="658368" y="4663440"/>
            <a:ext cx="10872216" cy="457200"/>
          </a:xfrm>
          <a:prstGeom prst="rect">
            <a:avLst/>
          </a:prstGeom>
          <a:noFill/>
        </p:spPr>
        <p:txBody>
          <a:bodyPr wrap="square">
            <a:spAutoFit/>
          </a:bodyPr>
          <a:lstStyle/>
          <a:p>
            <a:pPr algn="ctr"/>
            <a:r>
              <a:rPr sz="1600" b="0" i="0">
                <a:solidFill>
                  <a:srgbClr val="1A1A1A"/>
                </a:solidFill>
                <a:latin typeface="Arial"/>
              </a:rPr>
              <a:t>nivanrs@gmail.com</a:t>
            </a:r>
          </a:p>
        </p:txBody>
      </p:sp>
      <p:sp>
        <p:nvSpPr>
          <p:cNvPr id="5" name="Rectangle 4"/>
          <p:cNvSpPr/>
          <p:nvPr/>
        </p:nvSpPr>
        <p:spPr>
          <a:xfrm>
            <a:off x="658368" y="5897880"/>
            <a:ext cx="10872216" cy="127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